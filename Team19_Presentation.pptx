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001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3856"/>
          </a:solidFill>
          <a:ln w="12700">
            <a:solidFill>
              <a:srgbClr val="1638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University  |  Faculty of Engineering  |  CMPS451 — Spring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System Logs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Apache Spark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3611880"/>
            <a:ext cx="5486400" cy="0"/>
          </a:xfrm>
          <a:prstGeom prst="line">
            <a:avLst/>
          </a:prstGeom>
          <a:noFill/>
          <a:ln w="12700">
            <a:solidFill>
              <a:srgbClr val="00B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Abdallah ElMahdy  |  Noor Tantawy  |  George Ayman  |  Elhussien Awad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8686800" cy="1371600"/>
          </a:xfrm>
          <a:prstGeom prst="rect">
            <a:avLst/>
          </a:prstGeom>
          <a:solidFill>
            <a:srgbClr val="D6E4F0"/>
          </a:solidFill>
          <a:ln w="6350">
            <a:solidFill>
              <a:srgbClr val="C5D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41248"/>
            <a:ext cx="8321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we build a scalable anomaly detection platform that analyzes large-scale web server log data to identify abnormal patterns early, providing actionable insights that help organizations improve system reliability and prevent critical failures?"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" y="2167565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web servers generate millions of log entries.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inside them are the early warning signs of attacks, failures, and outages.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353525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346267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3353525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3346267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Error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49040" y="3353525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3346267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0" y="3353525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3346267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3760" y="3353525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3346267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" y="2857501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Defined Anomaly Types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— 14.8 Million Requests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201168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527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log entries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77724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77440" y="777240"/>
            <a:ext cx="2011680" cy="6400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77440" y="1527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traffic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77724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6280" y="777240"/>
            <a:ext cx="2011680" cy="6400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26280" y="1527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777240"/>
            <a:ext cx="20116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777240"/>
            <a:ext cx="2011680" cy="6400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75120" y="1527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timestamps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(perfect parsing)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" y="23774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Datasets — Unified into One Schema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2697480"/>
            <a:ext cx="41605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697480"/>
            <a:ext cx="416052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6974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 — Apache Common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090672"/>
            <a:ext cx="3977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access_log.txt  •  ~4.5M rows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logs  •  No user agent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detection: unavailable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IP, timestamp, method, endpoint, status, bytes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2697480"/>
            <a:ext cx="425196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697480"/>
            <a:ext cx="425196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6974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 — Apache Combined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3090672"/>
            <a:ext cx="4069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web_server_access_log.txt  •  ~10.3M rows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logs (Iran e-commerce)  •  Has user agent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detection: 10 keyword signatures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+ referrer, user_agent, is_bot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42976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64008" cy="18745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68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Googlebot = #1 traffic source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8016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66.249.66.194 &amp; 66.249.66.91 make 665K requests combined — the two busiest IPs on the server are Google crawlers consuming resources that could be rate-limited.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2976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77240"/>
            <a:ext cx="64008" cy="18745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68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Errors peak at 4am, not noon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28016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is highest overnight (2.85%) when bot traffic dominates, lowest at noon (1.44%) when humans dominate. Errors are caused by bots, not load.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834640"/>
            <a:ext cx="42976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834640"/>
            <a:ext cx="64008" cy="18745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26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115,562 scanning windows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33756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probing &gt;30 unique endpoints per minute — automated vulnerability reconnaissance. These should be flagged for WAF blocking immediately.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834640"/>
            <a:ext cx="429768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34640"/>
            <a:ext cx="64008" cy="18745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926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18.1% of windows anomalous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337560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331,642 alerts per log period. Impossible for any human team to process. Our ML models rank by severity so analysts see the most critical events first.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804672"/>
            <a:ext cx="5486400" cy="0"/>
          </a:xfrm>
          <a:prstGeom prst="line">
            <a:avLst/>
          </a:prstGeom>
          <a:noFill/>
          <a:ln w="12700">
            <a:solidFill>
              <a:srgbClr val="00B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840480" cy="1691640"/>
          </a:xfrm>
          <a:prstGeom prst="rect">
            <a:avLst/>
          </a:prstGeom>
          <a:solidFill>
            <a:srgbClr val="163856"/>
          </a:solidFill>
          <a:ln w="6350">
            <a:solidFill>
              <a:srgbClr val="00B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Review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14.8M raw log lines into a ranked severity list. Analysts review critical alerts first — not millions of rows.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3840480" cy="1691640"/>
          </a:xfrm>
          <a:prstGeom prst="rect">
            <a:avLst/>
          </a:prstGeom>
          <a:solidFill>
            <a:srgbClr val="163856"/>
          </a:solidFill>
          <a:ln w="6350">
            <a:solidFill>
              <a:srgbClr val="00B0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1155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9160" y="1508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Scanners Automatically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8745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probing &gt;30 unique endpoints/min are flagged in real time for WAF blocking before they find a vulnerability.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3840480" cy="1691640"/>
          </a:xfrm>
          <a:prstGeom prst="rect">
            <a:avLst/>
          </a:prstGeom>
          <a:solidFill>
            <a:srgbClr val="163856"/>
          </a:solidFill>
          <a:ln w="6350">
            <a:solidFill>
              <a:srgbClr val="00B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900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Server Failures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749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5xx response triggers immediate anomaly labeling. Server errors are caught at the first occurrence, not after users notice.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880360"/>
            <a:ext cx="3840480" cy="1691640"/>
          </a:xfrm>
          <a:prstGeom prst="rect">
            <a:avLst/>
          </a:prstGeom>
          <a:solidFill>
            <a:srgbClr val="163856"/>
          </a:solidFill>
          <a:ln w="6350">
            <a:solidFill>
              <a:srgbClr val="00B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9900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09160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Production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3749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Apache Spark — the same code runs on a single machine today and a 100-node cluster tomorrow with no changes.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 Dive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 •  Preprocessing  •  Feature Engineering  •  Models  •  Results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— Apache Spark local[*]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1600200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8229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117043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15727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14.8M rows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0972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965960" y="777240"/>
            <a:ext cx="1600200" cy="1371600"/>
          </a:xfrm>
          <a:prstGeom prst="rect">
            <a:avLst/>
          </a:prstGeom>
          <a:solidFill>
            <a:srgbClr val="1F78C1"/>
          </a:solidFill>
          <a:ln w="12700">
            <a:solidFill>
              <a:srgbClr val="1F78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65960" y="8229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117043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65960" y="15727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 windows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10972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03320" y="777240"/>
            <a:ext cx="1600200" cy="1371600"/>
          </a:xfrm>
          <a:prstGeom prst="rect">
            <a:avLst/>
          </a:prstGeom>
          <a:solidFill>
            <a:srgbClr val="17629B"/>
          </a:solidFill>
          <a:ln w="12700">
            <a:solidFill>
              <a:srgbClr val="17629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03320" y="8229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03320" y="117043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03320" y="15727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+ RF + KMeans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10972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40680" y="777240"/>
            <a:ext cx="1600200" cy="1371600"/>
          </a:xfrm>
          <a:prstGeom prst="rect">
            <a:avLst/>
          </a:prstGeom>
          <a:solidFill>
            <a:srgbClr val="0F4C75"/>
          </a:solidFill>
          <a:ln w="12700">
            <a:solidFill>
              <a:srgbClr val="0F4C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0680" y="8229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40680" y="117043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15727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+ CM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109728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178040" y="777240"/>
            <a:ext cx="1600200" cy="1371600"/>
          </a:xfrm>
          <a:prstGeom prst="rect">
            <a:avLst/>
          </a:prstGeom>
          <a:solidFill>
            <a:srgbClr val="0A3554"/>
          </a:solidFill>
          <a:ln w="12700">
            <a:solidFill>
              <a:srgbClr val="0A355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78040" y="8229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78040" y="117043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78040" y="1572768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plots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" y="2286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28600" y="2286000"/>
            <a:ext cx="109728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286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63040" y="224028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 — one Spark session created once, passed to all modules. Each module returns a DataFrame to the next stage. Schema validated between stages.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8600" y="27889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Schema (11 columns):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8600" y="3063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 •  timestamp  •  method  •  endpoint  •  status_code  •  bytes  •  user_agent  •  is_bot  •  is_error  •  status_class  •  source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8600" y="34747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Pseudo-distributed mode: local[*] — one machine, multiple parallel worker processes across all CPU cores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8600" y="3794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saved to disk after training — pipeline can resume from any stage without re-running earlier stages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— Two Formats, One Schema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pic>
        <p:nvPicPr>
          <p:cNvPr id="5" name="Image 0" descr="/home/claude/1776726702355_01_status_code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77240"/>
            <a:ext cx="5303520" cy="2560320"/>
          </a:xfrm>
          <a:prstGeom prst="rect">
            <a:avLst/>
          </a:prstGeom>
        </p:spPr>
      </p:pic>
      <p:pic>
        <p:nvPicPr>
          <p:cNvPr id="6" name="Image 1" descr="/home/claude/1776726702357_02_status_class_pi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69280" y="777240"/>
            <a:ext cx="324612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8600" y="34290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91.6% success rate — server was healthy during the log period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28600" y="37490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14,842,672 rows  •  0 null timestamps  •  7.5% bot traffic  •  1.8% error rows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datasets unified via unionByName — Dataset 1 rows have user_agent=NULL and is_bot=0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Per IP Per Minute Window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402336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Behavioral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request_count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4904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error_count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7922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avg_bytes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0939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unique_endpoints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 bot_requests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2697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 off_hours_requests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29992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  fatal_count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3300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  medium_count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6027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  low_count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904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  error_rate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777240"/>
            <a:ext cx="44805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777240"/>
            <a:ext cx="4480560" cy="3657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777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Definitions (TA Feedback)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1188720"/>
            <a:ext cx="109728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1887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traffic_spike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1188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request_count &gt; 200 /min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26280" y="1691640"/>
            <a:ext cx="109728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691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high_error_rate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16916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error_rate &gt; 30%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26280" y="2194560"/>
            <a:ext cx="109728" cy="347472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194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21945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unique_endpoints &gt; 30 /min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26280" y="2697480"/>
            <a:ext cx="109728" cy="34747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server_error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2697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fatal_count &gt; 0 (5xx present)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26280" y="3200400"/>
            <a:ext cx="109728" cy="347472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200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bot_traffic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32004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agent keyword match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26280" y="3703320"/>
            <a:ext cx="109728" cy="34747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37960" y="37033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above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8600" y="4389120"/>
            <a:ext cx="8686800" cy="475488"/>
          </a:xfrm>
          <a:prstGeom prst="rect">
            <a:avLst/>
          </a:prstGeom>
          <a:solidFill>
            <a:srgbClr val="D6E4F0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41655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score = (fatal_count/total)×0.40 + (medium_count/total)×0.25 + error_rate×0.20 + (request_count/200)×0.15    →    low / medium / high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Distribution — 1,831,664 Windows Analyzed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pic>
        <p:nvPicPr>
          <p:cNvPr id="5" name="Image 0" descr="/home/claude/1776726702380_15_anomaly_type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77240"/>
            <a:ext cx="5303520" cy="2514600"/>
          </a:xfrm>
          <a:prstGeom prst="rect">
            <a:avLst/>
          </a:prstGeom>
        </p:spPr>
      </p:pic>
      <p:pic>
        <p:nvPicPr>
          <p:cNvPr id="6" name="Image 1" descr="/home/claude/1776726702383_17_severity_score_histogra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23560" y="777240"/>
            <a:ext cx="3291840" cy="2514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8600" y="338328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18.1% of windows anomalous  •  Max severity score: 0.67  •  No high-severity events (server was stable)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28600" y="3794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129,612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28600" y="4160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bot_traffic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965960" y="3794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115,562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965960" y="4160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703320" y="3794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83,193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703320" y="4160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high_error_rate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440680" y="3794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2,073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40680" y="4160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server_error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178040" y="37947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178040" y="41605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traffic_spike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Temporal Insight — Errors Peak at 4am, Not Noon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pic>
        <p:nvPicPr>
          <p:cNvPr id="5" name="Image 0" descr="/home/claude/1776726702373_11_error_rate_by_hou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77240"/>
            <a:ext cx="868680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3794760"/>
            <a:ext cx="8686800" cy="1051560"/>
          </a:xfrm>
          <a:prstGeom prst="rect">
            <a:avLst/>
          </a:prstGeom>
          <a:solidFill>
            <a:srgbClr val="D6E4F0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is HIGHEST at 4am (2.85%) — LOWEST at noon (1.44%)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low-traffic overnight hours, bot/crawler activity dominates and bots hit deprecated endpoints. At noon, human traffic dominates and bots are a smaller fraction — so error rate drops. Errors are caused by non-human traffic patterns, not by server load.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IPs — Googlebot is #1 Traffic Source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pic>
        <p:nvPicPr>
          <p:cNvPr id="5" name="Image 0" descr="/home/claude/1776726702364_06_top_10_ip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777240"/>
            <a:ext cx="5029200" cy="2468880"/>
          </a:xfrm>
          <a:prstGeom prst="rect">
            <a:avLst/>
          </a:prstGeom>
        </p:spPr>
      </p:pic>
      <p:pic>
        <p:nvPicPr>
          <p:cNvPr id="6" name="Image 1" descr="/home/claude/1776726702367_08_top_10_error_ip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94960" y="777240"/>
            <a:ext cx="3520440" cy="24688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3383280"/>
            <a:ext cx="8686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20040" y="3456432"/>
            <a:ext cx="91440" cy="32004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02920" y="3456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66.249.66.x:  Googlebot (2 IPs) — 665K requests combined. Rate-limit via robots.txt.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" y="3895344"/>
            <a:ext cx="91440" cy="3200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38953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104.222.32.91:  #10 in volume but #1 in errors (11K) — aggressive probing, WAF candidate.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4334256"/>
            <a:ext cx="9144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" y="43342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10.x.x.x range:  Internal network IPs — monitoring traffic from within the infrastructure.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— Three Purposes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283464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2834640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01168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LR with L2 regularization. Tells us WHICH features matter most. Hyperparameter grid search over regParam and elasticNetParam.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4160520"/>
            <a:ext cx="2651760" cy="502920"/>
          </a:xfrm>
          <a:prstGeom prst="rect">
            <a:avLst/>
          </a:prstGeom>
          <a:solidFill>
            <a:srgbClr val="2E75B6">
              <a:alpha val="15000"/>
            </a:srgbClr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60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F1: 0.9501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777240"/>
            <a:ext cx="283464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777240"/>
            <a:ext cx="2834640" cy="50292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3716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0" y="1572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Accuracy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201168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 ensemble. KNN substitute (spark-knn unavailable). Grid search over numTrees and maxDepth. Natively handles multi-class.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00B050">
              <a:alpha val="15000"/>
            </a:srgbClr>
          </a:solidFill>
          <a:ln w="6350">
            <a:solidFill>
              <a:srgbClr val="00B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F1: 0.9990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777240"/>
            <a:ext cx="283464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777240"/>
            <a:ext cx="2834640" cy="50292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777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(k=3–8)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3716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5727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2011680"/>
            <a:ext cx="2651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 — finds natural groupings WITHOUT labels. Uses k-means|| initialization. Best k selected by silhouette score.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4160520"/>
            <a:ext cx="2651760" cy="502920"/>
          </a:xfrm>
          <a:prstGeom prst="rect">
            <a:avLst/>
          </a:prstGeom>
          <a:solidFill>
            <a:srgbClr val="FF8C00">
              <a:alpha val="15000"/>
            </a:srgbClr>
          </a:solidFill>
          <a:ln w="6350">
            <a:solidFill>
              <a:srgbClr val="FF8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160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k=4, Sil: 0.8636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8600" y="48463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Train  |  20% Validation  |  20% Test  —  Fixed seed=42 for reproducibility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Test Set Performance (365,903 windows)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2651760" cy="640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95.67%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5270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77724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63240" y="777240"/>
            <a:ext cx="2743200" cy="6400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9144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063240" y="15270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777240"/>
            <a:ext cx="29260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777240"/>
            <a:ext cx="2926080" cy="64008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914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0.8630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989320" y="15270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" y="23774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 Composition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274320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743200"/>
            <a:ext cx="2011680" cy="365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" y="31455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349,639 windows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" y="349300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+ bot_traffic (85%)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" y="40050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low-intensity activity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23160" y="274320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23160" y="2743200"/>
            <a:ext cx="2011680" cy="36576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423160" y="31455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16,600 windows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96312" y="349300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(85%)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96312" y="40050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reconnaissance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274320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2743200"/>
            <a:ext cx="2011680" cy="3657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17720" y="31455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windows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90872" y="349300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server_error (100%)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90872" y="40050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Pure server failures — no labels needed!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12280" y="2743200"/>
            <a:ext cx="20116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12280" y="2743200"/>
            <a:ext cx="2011680" cy="36576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2743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12280" y="31455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631 windows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85432" y="3493008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high_error_rate + scanning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85432" y="4005072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borderline anomalies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Unsuccessful Trials — What We Learned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4251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457200" cy="1325880"/>
          </a:xfrm>
          <a:prstGeom prst="rect">
            <a:avLst/>
          </a:prstGeom>
          <a:solidFill>
            <a:srgbClr val="C00000">
              <a:alpha val="20000"/>
            </a:srgbClr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7724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8503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k≠4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1887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 merged scanning+bot into one cluster. k=5–8 over-segmented normal traffic. k=4 gave best silhouette (0.8636) and interpretability.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240280"/>
            <a:ext cx="4251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240280"/>
            <a:ext cx="457200" cy="1325880"/>
          </a:xfrm>
          <a:prstGeom prst="rect">
            <a:avLst/>
          </a:prstGeom>
          <a:solidFill>
            <a:srgbClr val="C00000">
              <a:alpha val="20000"/>
            </a:srgbClr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24028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23134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regParam=0.1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65176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dropped from 0.95 → 0.85. Heavy regularization collapsed predictions to majority class (normal). LR needs minimal regularization on this well-separated space.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703320"/>
            <a:ext cx="4251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703320"/>
            <a:ext cx="457200" cy="1325880"/>
          </a:xfrm>
          <a:prstGeom prst="rect">
            <a:avLst/>
          </a:prstGeom>
          <a:solidFill>
            <a:srgbClr val="C00000">
              <a:alpha val="20000"/>
            </a:srgbClr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70332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37764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Windows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11480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only 180K windows (vs 1.8M at 1-min). A 30-second DDoS probe averages away in an hourly window. 1-minute resolution is required for actionable detection.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777240"/>
            <a:ext cx="4251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777240"/>
            <a:ext cx="457200" cy="1325880"/>
          </a:xfrm>
          <a:prstGeom prst="rect">
            <a:avLst/>
          </a:prstGeom>
          <a:solidFill>
            <a:srgbClr val="FF8C00">
              <a:alpha val="20000"/>
            </a:srgbClr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77724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8503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KNN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118872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spark-knn library unavailable. Random Forest selected as principled substitute — non-parametric, handles multi-class, scales better. RF outperformed LR significantly.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240280"/>
            <a:ext cx="4251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240280"/>
            <a:ext cx="457200" cy="1325880"/>
          </a:xfrm>
          <a:prstGeom prst="rect">
            <a:avLst/>
          </a:prstGeom>
          <a:solidFill>
            <a:srgbClr val="7030A0">
              <a:alpha val="20000"/>
            </a:srgbClr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240280"/>
            <a:ext cx="457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12080" y="23134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 @ 0.7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265176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windows reached 0.7. Not a bug — the server had no catastrophic events. Max observed score was 0.67. The formula is correct; the data is healthy.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Enhancements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658368"/>
            <a:ext cx="8686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2834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77240"/>
            <a:ext cx="283464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Real-Time Streaming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spark.read.text() with spark.readStream + Apache Kafka. Anomalies flagged within seconds of first suspicious request.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834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777240"/>
            <a:ext cx="2834640" cy="41148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777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Automated IP Blocking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252728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anomaly output to firewall API (iptables / Cloudflare WAF). High-confidence scanning IPs blocked automatically.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777240"/>
            <a:ext cx="2834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777240"/>
            <a:ext cx="2834640" cy="41148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777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IP Geolocation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1252728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with MaxMind GeoLite2 for country/ASN features. Detect coordinated geographic attacks.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971800"/>
            <a:ext cx="2834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971800"/>
            <a:ext cx="2834640" cy="41148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971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Fully Distributed Mode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447288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multi-machine cluster (GCP Dataproc / AWS EMR). Process terabyte-scale production logs.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834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971800"/>
            <a:ext cx="2834640" cy="4114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971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Autoencoder Detection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3447288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trained on normal traffic only. High reconstruction error = anomaly. No labels required.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2971800"/>
            <a:ext cx="28346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971800"/>
            <a:ext cx="283464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971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Adaptive Thresholds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447288"/>
            <a:ext cx="2651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baseline approach. Thresholds adapt to traffic growth and seasonal patterns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758952"/>
            <a:ext cx="5486400" cy="0"/>
          </a:xfrm>
          <a:prstGeom prst="line">
            <a:avLst/>
          </a:prstGeom>
          <a:noFill/>
          <a:ln w="12700">
            <a:solidFill>
              <a:srgbClr val="00B0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914400"/>
            <a:ext cx="8686800" cy="1188720"/>
          </a:xfrm>
          <a:prstGeom prst="rect">
            <a:avLst/>
          </a:prstGeom>
          <a:solidFill>
            <a:srgbClr val="163856"/>
          </a:solidFill>
          <a:ln w="6350">
            <a:solidFill>
              <a:srgbClr val="00B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built a working, scalable anomaly detection platform on 14.8M real-world log entries. Random Forest achieves 99.92% accuracy. K-Means silhouette of 0.8630 confirms natural cluster structure exists. The platform ran successfully in pseudo-distributed mode on a single machine."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2286000"/>
            <a:ext cx="1600200" cy="1371600"/>
          </a:xfrm>
          <a:prstGeom prst="rect">
            <a:avLst/>
          </a:prstGeom>
          <a:solidFill>
            <a:srgbClr val="163856"/>
          </a:solidFill>
          <a:ln w="6350">
            <a:solidFill>
              <a:srgbClr val="00B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233172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2926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2286000"/>
            <a:ext cx="1600200" cy="1371600"/>
          </a:xfrm>
          <a:prstGeom prst="rect">
            <a:avLst/>
          </a:prstGeom>
          <a:solidFill>
            <a:srgbClr val="163856"/>
          </a:solidFill>
          <a:ln w="6350">
            <a:solidFill>
              <a:srgbClr val="00B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33172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65960" y="2926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03320" y="2286000"/>
            <a:ext cx="1600200" cy="1371600"/>
          </a:xfrm>
          <a:prstGeom prst="rect">
            <a:avLst/>
          </a:prstGeom>
          <a:solidFill>
            <a:srgbClr val="163856"/>
          </a:solidFill>
          <a:ln w="6350">
            <a:solidFill>
              <a:srgbClr val="00B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33172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99.92%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03320" y="2926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2286000"/>
            <a:ext cx="1600200" cy="1371600"/>
          </a:xfrm>
          <a:prstGeom prst="rect">
            <a:avLst/>
          </a:prstGeom>
          <a:solidFill>
            <a:srgbClr val="163856"/>
          </a:solidFill>
          <a:ln w="6350">
            <a:solidFill>
              <a:srgbClr val="00B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233172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0.8630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40680" y="2926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78040" y="2286000"/>
            <a:ext cx="1600200" cy="1371600"/>
          </a:xfrm>
          <a:prstGeom prst="rect">
            <a:avLst/>
          </a:prstGeom>
          <a:solidFill>
            <a:srgbClr val="163856"/>
          </a:solidFill>
          <a:ln w="6350">
            <a:solidFill>
              <a:srgbClr val="00B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233172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8040" y="2926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" y="37947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D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  •  PySpark MLlib  •  Logistic Regression  •  Random Forest  •  K-Means  •  Pseudo-Distributed Mode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" y="42062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19  |  Abdallah ElMahdy  •  Noor Tantawy  •  George Ayman  •  Elhussien Awad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" y="45720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DB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University — Faculty of Engineering — CMPS451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1659</Words>
  <Application>Microsoft Office PowerPoint</Application>
  <PresentationFormat>On-screen Show (16:9)</PresentationFormat>
  <Paragraphs>256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Anomaly Detection in Large-Scale System Logs</dc:title>
  <dc:subject>PptxGenJS Presentation</dc:subject>
  <dc:creator>Team 19</dc:creator>
  <cp:lastModifiedBy>Noor Tantawy</cp:lastModifiedBy>
  <cp:revision>2</cp:revision>
  <dcterms:created xsi:type="dcterms:W3CDTF">2026-04-20T23:33:14Z</dcterms:created>
  <dcterms:modified xsi:type="dcterms:W3CDTF">2026-04-23T10:54:54Z</dcterms:modified>
</cp:coreProperties>
</file>